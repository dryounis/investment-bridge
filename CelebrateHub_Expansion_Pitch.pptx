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3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4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B2024"/>
                </a:solidFill>
                <a:latin typeface="Arial"/>
              </a:defRPr>
            </a:pPr>
            <a:r>
              <a:rPr sz="1300" b="0" i="0" u="none" strike="noStrike">
                <a:solidFill>
                  <a:srgbClr val="2B2024"/>
                </a:solidFill>
                <a:latin typeface="Arial"/>
              </a:rPr>
              <a:t>Saudi Event Management Market, USD Billions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Saudi Event Management Market (USD Billions)</c:v>
                </c:pt>
              </c:strCache>
            </c:strRef>
          </c:tx>
          <c:spPr>
            <a:solidFill>
              <a:srgbClr val="5E2A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B202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2025</c:v>
                  </c:pt>
                  <c:pt idx="1">
                    <c:v>2028</c:v>
                  </c:pt>
                  <c:pt idx="2">
                    <c:v>2031</c:v>
                  </c:pt>
                  <c:pt idx="3">
                    <c:v>2034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10.3</c:v>
                </c:pt>
                <c:pt idx="1">
                  <c:v>13.5</c:v>
                </c:pt>
                <c:pt idx="2">
                  <c:v>17</c:v>
                </c:pt>
                <c:pt idx="3">
                  <c:v>21.1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B202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66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FE3D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66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(SAR M)</c:v>
                </c:pt>
              </c:strCache>
            </c:strRef>
          </c:tx>
          <c:spPr>
            <a:solidFill>
              <a:srgbClr val="C98A5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B202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0.95</c:v>
                </c:pt>
                <c:pt idx="1">
                  <c:v>3.4</c:v>
                </c:pt>
                <c:pt idx="2">
                  <c:v>7.8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B202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66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66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E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C98A5E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206240"/>
            <a:ext cx="4572000" cy="4572000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685800"/>
            <a:ext cx="731520" cy="731520"/>
          </a:xfrm>
          <a:prstGeom prst="ellipse">
            <a:avLst/>
          </a:prstGeom>
          <a:solidFill>
            <a:srgbClr val="C98A5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0275" y="875995"/>
            <a:ext cx="351130" cy="35113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713232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300" kern="0" dirty="0">
                <a:solidFill>
                  <a:srgbClr val="C98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MARFA CELEBRATIONS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40080" y="1965960"/>
            <a:ext cx="9601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Academy + Vendor Marketplace</a:t>
            </a:r>
            <a:endParaRPr lang="en-US" sz="4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Saudi Celebrations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640080" y="352044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8D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marfa.sa product line: train event entrepreneurs through the Marfa Academy, then route them straight into a vetted vendor marketplace.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40080" y="4526280"/>
            <a:ext cx="3291840" cy="457200"/>
          </a:xfrm>
          <a:prstGeom prst="roundRect">
            <a:avLst>
              <a:gd name="adj" fmla="val 50000"/>
            </a:avLst>
          </a:prstGeom>
          <a:solidFill>
            <a:srgbClr val="C98A5E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45262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E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SEEKING SAR 1,200,000 EXPANSION CAPITAL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069080" y="464515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AE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Marfa Product Line Expansion  ·  Not an independent venture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E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IS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0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honest framing, by design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0789920" cy="1417320"/>
          </a:xfrm>
          <a:prstGeom prst="roundRect">
            <a:avLst>
              <a:gd name="adj" fmla="val 6452"/>
            </a:avLst>
          </a:prstGeom>
          <a:solidFill>
            <a:srgbClr val="F3E6DD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920240"/>
            <a:ext cx="10149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a third-party startup pitch. Celebrate-Hub is a marfa.sa product line — an academy that trains event entrepreneurs, paired with a vendor marketplace for celebrations. It is presented here for transparency and to evaluate as a marfa expansion, not blended into the entrepreneur-submitted opportunity feed.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3337560"/>
            <a:ext cx="3520440" cy="1554480"/>
          </a:xfrm>
          <a:prstGeom prst="roundRect">
            <a:avLst>
              <a:gd name="adj" fmla="val 5882"/>
            </a:avLst>
          </a:prstGeom>
          <a:solidFill>
            <a:srgbClr val="FBF6F2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3520440"/>
            <a:ext cx="594360" cy="594360"/>
          </a:xfrm>
          <a:prstGeom prst="ellipse">
            <a:avLst/>
          </a:prstGeom>
          <a:solidFill>
            <a:srgbClr val="5E2A4D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1774" y="3674974"/>
            <a:ext cx="285293" cy="28529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08760" y="35204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2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Academy-First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77240" y="416052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7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entrepreneurs through structured cohorts before they ever list as vendors</a:t>
            </a:r>
            <a:endParaRPr lang="en-US" sz="1080" dirty="0"/>
          </a:p>
        </p:txBody>
      </p:sp>
      <p:sp>
        <p:nvSpPr>
          <p:cNvPr id="11" name="Shape 8"/>
          <p:cNvSpPr/>
          <p:nvPr/>
        </p:nvSpPr>
        <p:spPr>
          <a:xfrm>
            <a:off x="4297680" y="3337560"/>
            <a:ext cx="3520440" cy="1554480"/>
          </a:xfrm>
          <a:prstGeom prst="roundRect">
            <a:avLst>
              <a:gd name="adj" fmla="val 5882"/>
            </a:avLst>
          </a:prstGeom>
          <a:solidFill>
            <a:srgbClr val="FBF6F2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26280" y="3520440"/>
            <a:ext cx="594360" cy="594360"/>
          </a:xfrm>
          <a:prstGeom prst="ellipse">
            <a:avLst/>
          </a:prstGeom>
          <a:solidFill>
            <a:srgbClr val="5E2A4D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814" y="3674974"/>
            <a:ext cx="285293" cy="28529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57800" y="35204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2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Vendor Marketplace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526280" y="416052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7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Graduates and vetted vendors list event services — catering, decor, photography</a:t>
            </a:r>
            <a:endParaRPr lang="en-US" sz="1080" dirty="0"/>
          </a:p>
        </p:txBody>
      </p:sp>
      <p:sp>
        <p:nvSpPr>
          <p:cNvPr id="16" name="Shape 12"/>
          <p:cNvSpPr/>
          <p:nvPr/>
        </p:nvSpPr>
        <p:spPr>
          <a:xfrm>
            <a:off x="8046720" y="3337560"/>
            <a:ext cx="3520440" cy="1554480"/>
          </a:xfrm>
          <a:prstGeom prst="roundRect">
            <a:avLst>
              <a:gd name="adj" fmla="val 5882"/>
            </a:avLst>
          </a:prstGeom>
          <a:solidFill>
            <a:srgbClr val="FBF6F2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275320" y="3520440"/>
            <a:ext cx="594360" cy="594360"/>
          </a:xfrm>
          <a:prstGeom prst="ellipse">
            <a:avLst/>
          </a:prstGeom>
          <a:solidFill>
            <a:srgbClr val="5E2A4D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9854" y="3674974"/>
            <a:ext cx="285293" cy="28529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006840" y="35204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2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Investor Portal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8275320" y="416052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7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separate audience: people investing in marfa-vetted graduate ventures, not Celebrate-Hub itself</a:t>
            </a:r>
            <a:endParaRPr lang="en-US" sz="10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E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B20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Saudi celebrations are growing faster than the events market overall</a:t>
            </a:r>
            <a:endParaRPr lang="en-US" sz="2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59436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675120" y="169164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FBF6F2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675120" y="1801368"/>
            <a:ext cx="233172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E2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11.74%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6766560" y="2514600"/>
            <a:ext cx="2148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for individual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7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celebrations (fastest segment)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9189720" y="169164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FBF6F2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9189720" y="1801368"/>
            <a:ext cx="233172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E2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$3.04B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9281160" y="2514600"/>
            <a:ext cx="2148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wedding planning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7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alone, 2024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675120" y="3246120"/>
            <a:ext cx="4709160" cy="1600200"/>
          </a:xfrm>
          <a:prstGeom prst="rect">
            <a:avLst/>
          </a:prstGeom>
          <a:solidFill>
            <a:srgbClr val="FBF6F2"/>
          </a:solidFill>
          <a:ln/>
        </p:spPr>
        <p:txBody>
          <a:bodyPr wrap="square" lIns="1270" tIns="1270" rIns="1270" bIns="127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30" dirty="0">
                <a:solidFill>
                  <a:srgbClr val="7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celebrations (weddings, graduations, milestone parties) are growing faster than corporate events, driven by rising disposable income and cultural liberalization — exactly the segment Celebrate-Hub targets.</a:t>
            </a:r>
            <a:endParaRPr lang="en-US" sz="1230" dirty="0"/>
          </a:p>
        </p:txBody>
      </p:sp>
      <p:sp>
        <p:nvSpPr>
          <p:cNvPr id="12" name="Text 9"/>
          <p:cNvSpPr/>
          <p:nvPr/>
        </p:nvSpPr>
        <p:spPr>
          <a:xfrm>
            <a:off x="548640" y="49377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IMARC Group, Mordor Intelligence, Verified Market Research — Saudi Arabia event &amp; wedding market reports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E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B20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Academy tuition + marketplace commission, feeding each other</a:t>
            </a:r>
            <a:endParaRPr lang="en-US" sz="2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0789920" cy="1737360"/>
        </p:xfrm>
        <a:graphic>
          <a:graphicData uri="http://schemas.openxmlformats.org/drawingml/2006/table">
            <a:tbl>
              <a:tblPr/>
              <a:tblGrid>
                <a:gridCol w="2926080"/>
                <a:gridCol w="1737360"/>
                <a:gridCol w="1463040"/>
                <a:gridCol w="4663440"/>
              </a:tblGrid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Stream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F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A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Point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F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A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Margin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F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A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F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A4D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Academy Cohort Tuition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F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SAR 1,500/seat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F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F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Cohort-based, capped class size; covers curriculum + mentorship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F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 Marketplace Commission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F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12% per booking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F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F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Graduates and vetted external vendors list event services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F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Featured Vendor Placement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F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SAR 250/mo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F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F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 visibility upgrade for vendors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F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F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F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F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6118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0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3-Year Revenue Trajectory (Conservative Case)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3931920"/>
          <a:ext cx="5120640" cy="1371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3"/>
          <p:cNvSpPr/>
          <p:nvPr/>
        </p:nvSpPr>
        <p:spPr>
          <a:xfrm>
            <a:off x="5943600" y="393192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FBF6F2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5943600" y="4041648"/>
            <a:ext cx="233172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E2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150 → 900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6035040" y="4754880"/>
            <a:ext cx="2148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Academy graduates,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7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to Year 3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8412480" y="3931920"/>
            <a:ext cx="2926080" cy="1371600"/>
          </a:xfrm>
          <a:prstGeom prst="roundRect">
            <a:avLst>
              <a:gd name="adj" fmla="val 5333"/>
            </a:avLst>
          </a:prstGeom>
          <a:solidFill>
            <a:srgbClr val="FBF6F2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8412480" y="4041648"/>
            <a:ext cx="292608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E2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70%</a:t>
            </a:r>
            <a:endParaRPr lang="en-US" sz="2600" dirty="0"/>
          </a:p>
        </p:txBody>
      </p:sp>
      <p:sp>
        <p:nvSpPr>
          <p:cNvPr id="12" name="Text 8"/>
          <p:cNvSpPr/>
          <p:nvPr/>
        </p:nvSpPr>
        <p:spPr>
          <a:xfrm>
            <a:off x="8503920" y="4754880"/>
            <a:ext cx="27432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Graduate-to-vendor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7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rate assumed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5E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8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ROI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case for funding this as a marfa product line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4A2240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801368"/>
            <a:ext cx="260604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8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SAR 1.2M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514600"/>
            <a:ext cx="2423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D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capital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91840" y="16916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4A2240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91840" y="1801368"/>
            <a:ext cx="260604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8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8%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383280" y="2514600"/>
            <a:ext cx="2423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D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/ profit-share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E8D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offered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035040" y="16916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4A2240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35040" y="1801368"/>
            <a:ext cx="260604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8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mo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126480" y="2514600"/>
            <a:ext cx="2423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D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Runway covered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778240" y="16916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4A2240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778240" y="1801368"/>
            <a:ext cx="260604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8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5x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869680" y="2514600"/>
            <a:ext cx="2423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D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multiple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E8D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(marketplace+ed comp)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337560"/>
            <a:ext cx="10835640" cy="1417320"/>
          </a:xfrm>
          <a:prstGeom prst="roundRect">
            <a:avLst>
              <a:gd name="adj" fmla="val 6452"/>
            </a:avLst>
          </a:prstGeom>
          <a:solidFill>
            <a:srgbClr val="3E1B35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352044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Year-3 projected revenue: </a:t>
            </a:r>
            <a:pPr indent="0" marL="0">
              <a:buNone/>
            </a:pPr>
            <a:r>
              <a:rPr lang="en-US" sz="1600" dirty="0">
                <a:solidFill>
                  <a:srgbClr val="E8D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 7.8M  ×  5x multiple  =  </a:t>
            </a:r>
            <a:pPr indent="0" marL="0">
              <a:buNone/>
            </a:pPr>
            <a:r>
              <a:rPr lang="en-US" sz="1600" b="1" dirty="0">
                <a:solidFill>
                  <a:srgbClr val="C98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~SAR 39M valuation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68680" y="397764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stake (8%) at exit: </a:t>
            </a:r>
            <a:pPr indent="0" marL="0">
              <a:buNone/>
            </a:pPr>
            <a:r>
              <a:rPr lang="en-US" sz="1600" b="1" dirty="0">
                <a:solidFill>
                  <a:srgbClr val="C98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~SAR 3.12M  </a:t>
            </a:r>
            <a:pPr indent="0" marL="0">
              <a:buNone/>
            </a:pPr>
            <a:r>
              <a:rPr lang="en-US" sz="1600" dirty="0">
                <a:solidFill>
                  <a:srgbClr val="E8D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SAR 1.2M check  =  </a:t>
            </a:r>
            <a:pPr indent="0" marL="0">
              <a:buNone/>
            </a:pPr>
            <a:r>
              <a:rPr lang="en-US" sz="1600" b="1" dirty="0">
                <a:solidFill>
                  <a:srgbClr val="C9AE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~2.6x return over 3 years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68680" y="443484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9AE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multiple than WiqayaGen/Turathna Hub reflects a smaller addressable niche and reliance on Marfa's existing brand and traffic — this is a lower-risk, lower-ceiling line extension, not a high-growth independent venture.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" y="489204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D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Funds:  Curriculum &amp; mentor network (35%)  ·  Vendor vetting &amp; onboarding (25%)  ·  Platform engineering (25%)  ·  Marketing (15%)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5E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C98A5E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5544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Already a working academy and chat-ready platform.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24231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E8D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Celebrate-Hub already has an academy enrollment flow, investor/vendor dashboards, and a live chat concierge built on Next.js + Supabase. Capital accelerates vendor acquisition, not a rebuild.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31520" y="3429000"/>
            <a:ext cx="3291840" cy="502920"/>
          </a:xfrm>
          <a:prstGeom prst="roundRect">
            <a:avLst>
              <a:gd name="adj" fmla="val 50000"/>
            </a:avLst>
          </a:prstGeom>
          <a:solidFill>
            <a:srgbClr val="C98A5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4290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E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LIVE PLATFORM → celebrate-hub-seven.vercel.app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4251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AE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via marfa.sa Investment Bridge  ·  Marfa Product Line Expansion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Marfa Celebrations (Celebrate-Hub) — Internal Expansion Pitch</dc:title>
  <dc:subject>PptxGenJS Presentation</dc:subject>
  <dc:creator>Marfa Studio</dc:creator>
  <cp:lastModifiedBy>Marfa Studio</cp:lastModifiedBy>
  <cp:revision>1</cp:revision>
  <dcterms:created xsi:type="dcterms:W3CDTF">2026-06-30T02:36:34Z</dcterms:created>
  <dcterms:modified xsi:type="dcterms:W3CDTF">2026-06-30T02:36:34Z</dcterms:modified>
</cp:coreProperties>
</file>