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0241F"/>
                </a:solidFill>
                <a:latin typeface="Arial"/>
              </a:rPr>
              <a:t>Saudi Genetic Testing Market, USD Millions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Saudi Genetic Testing Market (USD M)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2029</c:v>
                  </c:pt>
                  <c:pt idx="3">
                    <c:v>2033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181</c:v>
                </c:pt>
                <c:pt idx="1">
                  <c:v>217</c:v>
                </c:pt>
                <c:pt idx="2">
                  <c:v>290</c:v>
                </c:pt>
                <c:pt idx="3">
                  <c:v>416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4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(SAR M)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5.25</c:v>
                </c:pt>
                <c:pt idx="1">
                  <c:v>14</c:v>
                </c:pt>
                <c:pt idx="2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4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5FC9C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5FC9C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875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713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WIQAYAGEN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Arabia's First AI-Powered Genomic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Precision-Health Platform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“sick-care” to precision prevention — powered by Polygenic Risk Scores and generative AI, built Arabic-first for the Saudi market.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SAR 2,000,000 SEED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4904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Marfa Studio Ventures  ·  Platform-Originated Pitch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healthcare treats disease after it happens — not before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4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infant deaths in Saudi Arabia are linked to genetic disorders — most undetected until symptomatic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4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52628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 Saudi Arabia is far above the global average, with strong genetic and lifestyle drivers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4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1178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$1,000–$3,000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27532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typical out-of-pocket cost of comprehensive genomic testing today — inaccessible to most families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709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discover hereditary risk only after onset — by then, prevention has already failed.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DNA sample. A lifetime of personalized prevention.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2304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868680" cy="868680"/>
          </a:xfrm>
          <a:prstGeom prst="ellipse">
            <a:avLst/>
          </a:prstGeom>
          <a:solidFill>
            <a:srgbClr val="5FC9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21918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Wiqaya Score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2402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0–100 health index benchmarked against the national average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2304F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965960"/>
            <a:ext cx="868680" cy="868680"/>
          </a:xfrm>
          <a:prstGeom prst="ellipse">
            <a:avLst/>
          </a:prstGeom>
          <a:solidFill>
            <a:srgbClr val="5FC9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497" y="219181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Gen-Halal Scanner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2402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AI checks food compatibility against personal genetic markers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2304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57600"/>
            <a:ext cx="868680" cy="868680"/>
          </a:xfrm>
          <a:prstGeom prst="ellipse">
            <a:avLst/>
          </a:prstGeom>
          <a:solidFill>
            <a:srgbClr val="5FC9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97" y="38834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Legacy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9319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family tree to flag and track hereditary risk across generations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33832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2304F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3657600"/>
            <a:ext cx="868680" cy="868680"/>
          </a:xfrm>
          <a:prstGeom prst="ellipse">
            <a:avLst/>
          </a:prstGeom>
          <a:solidFill>
            <a:srgbClr val="5FC9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497" y="388345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Nafath-Secured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39319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SSO integration for trusted, frictionless onboarding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genetic-testing market growing faster than the broader economy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7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180136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766560" y="251460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2033 (IMARC Group)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89720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7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89720" y="180136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$1B+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251460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govt R&amp;D commitment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5120" y="3246120"/>
            <a:ext cx="4709160" cy="1600200"/>
          </a:xfrm>
          <a:prstGeom prst="rect">
            <a:avLst/>
          </a:prstGeom>
          <a:solidFill>
            <a:srgbClr val="F4F7F6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2030's Health Sector Transformation Program mandates genomic integration in national screening, and whole-genome sequencing cost has dropped 60% since 2020 — a direct policy and cost tailwind for consumer genomics platforms.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937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IMARC Group, Ken Research — Saudi Arabia genetic testing &amp; genomics market reports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model: one-time kit + recurring AI insight subscription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789920" cy="173736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828800"/>
                <a:gridCol w="40233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Test Kit (one-time)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partner cost ~SAR 250/kit incl. logistics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AI Insight 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300/yr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health plans, Gen-Halal scanner, family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B2B2C (insurer / employer bundles)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distribution via CCHI-aligned insurers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Revenue Trajectory (Conservative Case)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3931920"/>
          <a:ext cx="51206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39319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7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0" y="404164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035040" y="475488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users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(0.02% of Saudi adults)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412480" y="39319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4F7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0" y="4041648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users by Year 3,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subscription retention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ROI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the math, and the exit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304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2.0M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ask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304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304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covered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304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multiple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(health-tech SaaS comp)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projected revenue: </a:t>
            </a:r>
            <a:pPr indent="0" marL="0">
              <a:buNone/>
            </a:pPr>
            <a:r>
              <a:rPr lang="en-US" sz="160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28M  ×  8x multiple  =  </a:t>
            </a:r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~SAR 224M 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977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stake (10%) at exit: </a:t>
            </a:r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~SAR 22.4M  </a:t>
            </a:r>
            <a:pPr indent="0" marL="0">
              <a:buNone/>
            </a:pPr>
            <a:r>
              <a:rPr lang="en-US" sz="160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SAR 2M check  =  </a:t>
            </a:r>
            <a:pPr indent="0" marL="0">
              <a:buNone/>
            </a:pPr>
            <a:r>
              <a:rPr lang="en-US" sz="16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~11.2x return over 3 years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assume Year-3 user and retention targets are met; actual multiples depend on growth execution, lab-partner terms, and SFDA/CCHI regulatory timing.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 Lab partnership &amp; SFDA compliance (40%)  ·  Engineering &amp; AI models (25%)  ·  Marketing &amp; user acquisition (25%)  ·  Operations (10%)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Built. Branded. Ready for capital.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WiqayaGen has a working Next.js platform, interactive freemium demos, and an investor waitlist flow already live — this is execution capital, not concept capital.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PLATFORM → wiqaya-gen.vercel.app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via marfa.sa Investment Bridge  ·  Marfa Studio Ventures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WiqayaGen — Investor Pitch</dc:title>
  <dc:subject>PptxGenJS Presentation</dc:subject>
  <dc:creator>Marfa Studio</dc:creator>
  <cp:lastModifiedBy>Marfa Studio</cp:lastModifiedBy>
  <cp:revision>1</cp:revision>
  <dcterms:created xsi:type="dcterms:W3CDTF">2026-06-30T02:36:34Z</dcterms:created>
  <dcterms:modified xsi:type="dcterms:W3CDTF">2026-06-30T02:36:34Z</dcterms:modified>
</cp:coreProperties>
</file>